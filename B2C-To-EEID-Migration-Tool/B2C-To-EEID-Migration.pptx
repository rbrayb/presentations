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61" r:id="rId3"/>
    <p:sldId id="257" r:id="rId4"/>
    <p:sldId id="282" r:id="rId5"/>
    <p:sldId id="262" r:id="rId6"/>
    <p:sldId id="271" r:id="rId7"/>
    <p:sldId id="272" r:id="rId8"/>
    <p:sldId id="273" r:id="rId9"/>
    <p:sldId id="274" r:id="rId10"/>
    <p:sldId id="281" r:id="rId11"/>
    <p:sldId id="276" r:id="rId12"/>
    <p:sldId id="280" r:id="rId13"/>
    <p:sldId id="278" r:id="rId14"/>
    <p:sldId id="279" r:id="rId15"/>
    <p:sldId id="275" r:id="rId16"/>
    <p:sldId id="27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706" autoAdjust="0"/>
  </p:normalViewPr>
  <p:slideViewPr>
    <p:cSldViewPr snapToGrid="0">
      <p:cViewPr varScale="1">
        <p:scale>
          <a:sx n="60" d="100"/>
          <a:sy n="60" d="100"/>
        </p:scale>
        <p:origin x="1224" y="274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85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41DB8-B66F-4DC8-A96E-33677E0F90FF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4A0D4-B89B-4ADD-AF9E-38636B40EE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49C4A-65AC-492D-9701-81B46C3AD0E4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69989-EB00-4EE7-BCB5-25BDC5BB29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3039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E51E9-98C5-C77D-7443-7AC8DF21B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544B96-1E13-97EB-FE08-6FB6F3A6DB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DECD60-31A5-63FD-0C53-61FC8E524C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965499-6660-31C7-2420-DFA29E545D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337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4B5B-21A0-4192-BF4C-38187F1A68D8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CF7C-B333-48E1-A4A6-83A3C8B73AC0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20762-5CBF-4210-AB54-376B091119F8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B371-BF5F-4058-A212-1A908E4D2674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083B-90AA-48CF-BAD5-00AA24D7F288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BAF629-ECA2-4CF3-B790-9D9BDED98269}" type="datetime1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29A4-78C8-47AB-BA06-22CB45938951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D4ACF-2D82-46F2-A8E9-23963AA34E86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8" name="Straight Connector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B51B2453-8663-4C69-AF73-9FD7B1DEC5D0}" type="datetime1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zure-ad-b2c/samples/tree/master/policies/migrate-to-entra-external-id-for-customers-full" TargetMode="External"/><Relationship Id="rId7" Type="http://schemas.openxmlformats.org/officeDocument/2006/relationships/hyperlink" Target="https://github.com/rbrayb/Presentations" TargetMode="External"/><Relationship Id="rId2" Type="http://schemas.openxmlformats.org/officeDocument/2006/relationships/hyperlink" Target="https://learn.microsoft.com/en-us/entra/external-id/customers/how-to-migrate-passwords-just-in-tim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edium.com/@rbrayb/list/b2c-to-eeid-jit-migration-e860c64bdf1e" TargetMode="External"/><Relationship Id="rId5" Type="http://schemas.openxmlformats.org/officeDocument/2006/relationships/hyperlink" Target="https://medium.com/@rbrayb/list/azure-ad-b2c-entra-external-id-hybrid-policies-81530bcdd192" TargetMode="External"/><Relationship Id="rId4" Type="http://schemas.openxmlformats.org/officeDocument/2006/relationships/hyperlink" Target="https://github.com/microsoft/b2c-to-meeid-migration-tool/tree/main/script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D2617B4-5A65-B63A-1087-FF0EC471C1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097" y="0"/>
            <a:ext cx="12194194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B46057E-355B-8B81-A737-7E1AF1C58D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984" y="1598347"/>
            <a:ext cx="8475133" cy="3661304"/>
          </a:xfrm>
        </p:spPr>
        <p:txBody>
          <a:bodyPr>
            <a:normAutofit/>
          </a:bodyPr>
          <a:lstStyle/>
          <a:p>
            <a:pPr algn="l"/>
            <a:r>
              <a:rPr lang="en-NZ" sz="6000" dirty="0">
                <a:solidFill>
                  <a:srgbClr val="004D87"/>
                </a:solidFill>
                <a:latin typeface="Segoe UI" panose="020B0502040204020203" pitchFamily="34" charset="0"/>
                <a:ea typeface="ADLaM Display" panose="020F0502020204030204" pitchFamily="2" charset="0"/>
                <a:cs typeface="Segoe UI" panose="020B0502040204020203" pitchFamily="34" charset="0"/>
              </a:rPr>
              <a:t>Don’t be a know-it-all</a:t>
            </a:r>
            <a:br>
              <a:rPr lang="en-NZ" sz="6000" dirty="0">
                <a:solidFill>
                  <a:srgbClr val="004D87"/>
                </a:solidFill>
                <a:latin typeface="Segoe UI" panose="020B0502040204020203" pitchFamily="34" charset="0"/>
                <a:ea typeface="ADLaM Display" panose="020F0502020204030204" pitchFamily="2" charset="0"/>
                <a:cs typeface="Segoe UI" panose="020B0502040204020203" pitchFamily="34" charset="0"/>
              </a:rPr>
            </a:br>
            <a:br>
              <a:rPr lang="en-NZ" sz="6000" dirty="0">
                <a:solidFill>
                  <a:srgbClr val="004D87"/>
                </a:solidFill>
                <a:latin typeface="Segoe UI" panose="020B0502040204020203" pitchFamily="34" charset="0"/>
                <a:ea typeface="ADLaM Display" panose="020F0502020204030204" pitchFamily="2" charset="0"/>
                <a:cs typeface="Segoe UI" panose="020B0502040204020203" pitchFamily="34" charset="0"/>
              </a:rPr>
            </a:br>
            <a:r>
              <a:rPr lang="en-NZ" sz="6000" dirty="0">
                <a:solidFill>
                  <a:srgbClr val="004D87"/>
                </a:solidFill>
                <a:latin typeface="Segoe UI" panose="020B0502040204020203" pitchFamily="34" charset="0"/>
                <a:ea typeface="ADLaM Display" panose="020F0502020204030204" pitchFamily="2" charset="0"/>
                <a:cs typeface="Segoe UI" panose="020B0502040204020203" pitchFamily="34" charset="0"/>
              </a:rPr>
              <a:t>Be a learn-it-all</a:t>
            </a:r>
            <a:br>
              <a:rPr lang="en-NZ" dirty="0">
                <a:latin typeface="Segoe UI" panose="020B0502040204020203" pitchFamily="34" charset="0"/>
                <a:ea typeface="ADLaM Display" panose="020F0502020204030204" pitchFamily="2" charset="0"/>
                <a:cs typeface="Segoe UI" panose="020B0502040204020203" pitchFamily="34" charset="0"/>
              </a:rPr>
            </a:br>
            <a:endParaRPr lang="en-NZ" dirty="0">
              <a:latin typeface="Segoe UI" panose="020B0502040204020203" pitchFamily="34" charset="0"/>
              <a:ea typeface="ADLaM Display" panose="020F0502020204030204" pitchFamily="2" charset="0"/>
              <a:cs typeface="Segoe UI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3E4E11-61A1-9A75-7E37-2BEF9F493B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33" b="10833"/>
          <a:stretch/>
        </p:blipFill>
        <p:spPr>
          <a:xfrm>
            <a:off x="9421629" y="2815253"/>
            <a:ext cx="2077035" cy="2077035"/>
          </a:xfrm>
          <a:prstGeom prst="flowChartConnector">
            <a:avLst/>
          </a:prstGeom>
          <a:noFill/>
          <a:ln w="53975">
            <a:solidFill>
              <a:schemeClr val="bg1">
                <a:alpha val="50000"/>
              </a:schemeClr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161A08-B886-A4AD-5587-0BBFC4DB9195}"/>
              </a:ext>
            </a:extLst>
          </p:cNvPr>
          <p:cNvSpPr txBox="1"/>
          <p:nvPr/>
        </p:nvSpPr>
        <p:spPr>
          <a:xfrm>
            <a:off x="9511879" y="5013068"/>
            <a:ext cx="1896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dirty="0">
                <a:latin typeface="Segoe UI" panose="020B0502040204020203" pitchFamily="34" charset="0"/>
                <a:cs typeface="Segoe UI" panose="020B0502040204020203" pitchFamily="34" charset="0"/>
              </a:rPr>
              <a:t>Satya Nadella</a:t>
            </a:r>
          </a:p>
        </p:txBody>
      </p:sp>
    </p:spTree>
    <p:extLst>
      <p:ext uri="{BB962C8B-B14F-4D97-AF65-F5344CB8AC3E}">
        <p14:creationId xmlns:p14="http://schemas.microsoft.com/office/powerpoint/2010/main" val="3413257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9900" y="1109246"/>
            <a:ext cx="11544300" cy="2484854"/>
          </a:xfrm>
        </p:spPr>
        <p:txBody>
          <a:bodyPr>
            <a:normAutofit/>
          </a:bodyPr>
          <a:lstStyle/>
          <a:p>
            <a:r>
              <a:rPr lang="en-NZ" sz="6000" dirty="0"/>
              <a:t>Azure AD B2C to Entra External ID Migration Kit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Rory Braybrook – Microsoft MVP (Security – IAM)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0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562947"/>
          </a:xfrm>
        </p:spPr>
        <p:txBody>
          <a:bodyPr>
            <a:noAutofit/>
          </a:bodyPr>
          <a:lstStyle/>
          <a:p>
            <a:r>
              <a:rPr lang="en-US" sz="3600" dirty="0"/>
              <a:t>Migrate what?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1638301"/>
            <a:ext cx="9601200" cy="4152900"/>
          </a:xfrm>
        </p:spPr>
        <p:txBody>
          <a:bodyPr>
            <a:normAutofit/>
          </a:bodyPr>
          <a:lstStyle/>
          <a:p>
            <a:r>
              <a:rPr lang="en-US" sz="2800" dirty="0"/>
              <a:t>Users </a:t>
            </a:r>
            <a:r>
              <a:rPr lang="en-NZ" sz="2800" dirty="0"/>
              <a:t>☑️</a:t>
            </a:r>
          </a:p>
          <a:p>
            <a:r>
              <a:rPr lang="en-NZ" sz="2800" dirty="0"/>
              <a:t>Passwords (JIT) ☑️</a:t>
            </a:r>
          </a:p>
          <a:p>
            <a:r>
              <a:rPr lang="en-NZ" sz="2800" dirty="0"/>
              <a:t>Email login ☑️</a:t>
            </a:r>
          </a:p>
          <a:p>
            <a:r>
              <a:rPr lang="en-NZ" sz="2800" dirty="0"/>
              <a:t>Username login ☑️</a:t>
            </a:r>
            <a:endParaRPr lang="en-US" sz="2800" dirty="0"/>
          </a:p>
          <a:p>
            <a:r>
              <a:rPr lang="en-US" sz="2800" dirty="0"/>
              <a:t>App. registrations </a:t>
            </a:r>
            <a:r>
              <a:rPr lang="en-NZ" sz="2800" dirty="0"/>
              <a:t>☑️</a:t>
            </a:r>
            <a:endParaRPr lang="en-US" sz="2800" dirty="0"/>
          </a:p>
          <a:p>
            <a:r>
              <a:rPr lang="en-US" sz="2800" dirty="0"/>
              <a:t>User flows </a:t>
            </a:r>
            <a:r>
              <a:rPr lang="en-NZ" sz="2800" dirty="0"/>
              <a:t>☑️</a:t>
            </a:r>
            <a:r>
              <a:rPr lang="en-US" sz="2800" dirty="0"/>
              <a:t> </a:t>
            </a:r>
            <a:r>
              <a:rPr lang="en-NZ" sz="2800" dirty="0"/>
              <a:t>✖️</a:t>
            </a:r>
          </a:p>
          <a:p>
            <a:r>
              <a:rPr lang="en-NZ" sz="2800" dirty="0"/>
              <a:t>Custom policies ✖️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84617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E97E1-979C-7F73-1E71-72F19F64D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6520F-5D1F-2888-3D88-2CA6590B9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562947"/>
          </a:xfrm>
        </p:spPr>
        <p:txBody>
          <a:bodyPr>
            <a:noAutofit/>
          </a:bodyPr>
          <a:lstStyle/>
          <a:p>
            <a:r>
              <a:rPr lang="en-US" sz="3600" dirty="0"/>
              <a:t>Migrate what?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26132-1377-B9BB-94EB-BD69C29B8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066800"/>
            <a:ext cx="9601200" cy="4724401"/>
          </a:xfrm>
        </p:spPr>
        <p:txBody>
          <a:bodyPr>
            <a:normAutofit/>
          </a:bodyPr>
          <a:lstStyle/>
          <a:p>
            <a:r>
              <a:rPr lang="en-US" sz="2400" dirty="0"/>
              <a:t>Custom attributes </a:t>
            </a:r>
            <a:r>
              <a:rPr lang="en-NZ" sz="2400" dirty="0"/>
              <a:t>☑️</a:t>
            </a:r>
            <a:endParaRPr lang="en-US" sz="2400" dirty="0"/>
          </a:p>
          <a:p>
            <a:r>
              <a:rPr lang="en-US" sz="2400" dirty="0"/>
              <a:t>Social federation </a:t>
            </a:r>
            <a:r>
              <a:rPr lang="en-NZ" sz="2400" dirty="0"/>
              <a:t>☑️</a:t>
            </a:r>
          </a:p>
          <a:p>
            <a:r>
              <a:rPr lang="en-NZ" sz="2400" dirty="0"/>
              <a:t>OIDC federation ☑️</a:t>
            </a:r>
          </a:p>
          <a:p>
            <a:r>
              <a:rPr lang="en-NZ" sz="2400" dirty="0"/>
              <a:t>SAML federation ☑️</a:t>
            </a:r>
          </a:p>
          <a:p>
            <a:r>
              <a:rPr lang="en-US" sz="2400" dirty="0"/>
              <a:t>SUSI </a:t>
            </a:r>
            <a:r>
              <a:rPr lang="en-NZ" sz="2400" dirty="0"/>
              <a:t>☑️</a:t>
            </a:r>
            <a:endParaRPr lang="en-US" sz="2400" dirty="0"/>
          </a:p>
          <a:p>
            <a:r>
              <a:rPr lang="en-US" sz="2400" dirty="0"/>
              <a:t>Password reset </a:t>
            </a:r>
            <a:r>
              <a:rPr lang="en-NZ" sz="2400" dirty="0"/>
              <a:t>☑️</a:t>
            </a:r>
            <a:endParaRPr lang="en-US" sz="2400" dirty="0"/>
          </a:p>
          <a:p>
            <a:r>
              <a:rPr lang="en-US" sz="2400" dirty="0"/>
              <a:t>Profile edit </a:t>
            </a:r>
            <a:r>
              <a:rPr lang="en-NZ" sz="2400" dirty="0"/>
              <a:t>✖️</a:t>
            </a:r>
          </a:p>
          <a:p>
            <a:r>
              <a:rPr lang="en-US" sz="2400" dirty="0"/>
              <a:t>MSAL JSON configuration </a:t>
            </a:r>
            <a:r>
              <a:rPr lang="en-NZ" sz="2400" dirty="0"/>
              <a:t>☑️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54305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Migration options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DA1658-4567-9DC1-E4B2-359F3BF0A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NZ" sz="2800" dirty="0"/>
              <a:t>Graph API and </a:t>
            </a:r>
            <a:r>
              <a:rPr lang="en-NZ" sz="2800"/>
              <a:t>reset password</a:t>
            </a:r>
            <a:endParaRPr lang="en-NZ" sz="2800" dirty="0"/>
          </a:p>
          <a:p>
            <a:r>
              <a:rPr lang="en-NZ" sz="2800" dirty="0"/>
              <a:t>Graph API and passwordless via email / OTP</a:t>
            </a:r>
          </a:p>
          <a:p>
            <a:r>
              <a:rPr lang="en-NZ" sz="2800" dirty="0"/>
              <a:t>Use Azure function – custom policy to EEID</a:t>
            </a:r>
          </a:p>
          <a:p>
            <a:r>
              <a:rPr lang="en-NZ" sz="2800" dirty="0"/>
              <a:t>Hybrid – B2C and EEID share tenant</a:t>
            </a:r>
          </a:p>
          <a:p>
            <a:r>
              <a:rPr lang="en-NZ" sz="2800" dirty="0"/>
              <a:t>JIT migration</a:t>
            </a:r>
          </a:p>
          <a:p>
            <a:r>
              <a:rPr lang="en-NZ" sz="2800" dirty="0"/>
              <a:t>Migration tool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476019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15E55-2E0B-985C-E8F6-7D83F4C19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6901F-56F6-5640-8154-945783E74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689947"/>
          </a:xfrm>
        </p:spPr>
        <p:txBody>
          <a:bodyPr>
            <a:normAutofit/>
          </a:bodyPr>
          <a:lstStyle/>
          <a:p>
            <a:r>
              <a:rPr lang="en-US" sz="3600" dirty="0"/>
              <a:t>Custom policy to EEID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A1C64D-3D5B-BCC4-6C84-FC153CC09C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1806" y="1765300"/>
            <a:ext cx="9148387" cy="401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640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191DB-00B0-A655-840B-1FCC8E6DD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3E8BE-6904-A2D5-D975-F8F939A64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677247"/>
          </a:xfrm>
        </p:spPr>
        <p:txBody>
          <a:bodyPr>
            <a:normAutofit/>
          </a:bodyPr>
          <a:lstStyle/>
          <a:p>
            <a:r>
              <a:rPr lang="en-US" sz="3600" dirty="0"/>
              <a:t>Hybrid approach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1B76FDD-A4B3-44F4-848B-93E16DA9E6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0753" y="1676915"/>
            <a:ext cx="8870494" cy="3745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321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2F2C7-E9A3-983E-2428-23E5A3CAE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498A9-7E2B-1DC4-5665-F6774514C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562947"/>
          </a:xfrm>
        </p:spPr>
        <p:txBody>
          <a:bodyPr/>
          <a:lstStyle/>
          <a:p>
            <a:r>
              <a:rPr lang="en-US" dirty="0"/>
              <a:t>JIT password migration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C55F98-7709-3687-3CE2-B72A61743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300" y="1066800"/>
            <a:ext cx="7833623" cy="5037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185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9638A-C7FE-D551-4885-214FC4822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4D3E8-EA6D-C8C7-10B8-68A2DDF7F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562947"/>
          </a:xfrm>
        </p:spPr>
        <p:txBody>
          <a:bodyPr>
            <a:noAutofit/>
          </a:bodyPr>
          <a:lstStyle/>
          <a:p>
            <a:r>
              <a:rPr lang="en-US" sz="3600" dirty="0"/>
              <a:t>Migration tool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E98303-3952-12B3-73CC-CABC99CBA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048" y="1574800"/>
            <a:ext cx="11045967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201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6935E-4C12-92EA-DA9B-FAFB450CF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9F24E-F6D7-A392-E2BD-901058E12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88901"/>
            <a:ext cx="9601200" cy="634999"/>
          </a:xfrm>
        </p:spPr>
        <p:txBody>
          <a:bodyPr>
            <a:normAutofit/>
          </a:bodyPr>
          <a:lstStyle/>
          <a:p>
            <a:r>
              <a:rPr lang="en-NZ" sz="3600" dirty="0"/>
              <a:t>Key Components</a:t>
            </a:r>
            <a:endParaRPr lang="en-US" sz="3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9952A7-0859-F775-1084-D0A8C93CB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889000"/>
            <a:ext cx="9601200" cy="5194299"/>
          </a:xfrm>
        </p:spPr>
        <p:txBody>
          <a:bodyPr>
            <a:normAutofit fontScale="92500" lnSpcReduction="10000"/>
          </a:bodyPr>
          <a:lstStyle/>
          <a:p>
            <a:endParaRPr lang="en-NZ" dirty="0"/>
          </a:p>
          <a:p>
            <a:r>
              <a:rPr lang="en-NZ" sz="2800" dirty="0"/>
              <a:t>B2CMigrationKit.Console</a:t>
            </a:r>
          </a:p>
          <a:p>
            <a:pPr marL="0" indent="0">
              <a:buNone/>
            </a:pPr>
            <a:r>
              <a:rPr lang="en-NZ" sz="2800" dirty="0"/>
              <a:t>CLI tool with 5 bulk migration commands (export, import, harvest, worker-migrate, phone-registration)</a:t>
            </a:r>
          </a:p>
          <a:p>
            <a:pPr marL="0" indent="0">
              <a:buNone/>
            </a:pPr>
            <a:endParaRPr lang="en-NZ" sz="2800" dirty="0"/>
          </a:p>
          <a:p>
            <a:r>
              <a:rPr lang="en-NZ" sz="2800" dirty="0"/>
              <a:t>B2CMigrationKit.Function</a:t>
            </a:r>
          </a:p>
          <a:p>
            <a:pPr marL="0" indent="0">
              <a:buNone/>
            </a:pPr>
            <a:r>
              <a:rPr lang="en-NZ" sz="2800" dirty="0"/>
              <a:t>Azure Function for JIT password migration</a:t>
            </a:r>
          </a:p>
          <a:p>
            <a:pPr marL="0" indent="0">
              <a:buNone/>
            </a:pPr>
            <a:endParaRPr lang="en-NZ" sz="2800" dirty="0"/>
          </a:p>
          <a:p>
            <a:r>
              <a:rPr lang="en-NZ" sz="2800" dirty="0"/>
              <a:t>B2CMigrationKit.Core</a:t>
            </a:r>
          </a:p>
          <a:p>
            <a:pPr marL="0" indent="0">
              <a:buNone/>
            </a:pPr>
            <a:r>
              <a:rPr lang="en-NZ" sz="2800" dirty="0"/>
              <a:t>Shared business logic and services</a:t>
            </a:r>
          </a:p>
          <a:p>
            <a:endParaRPr lang="en-NZ" sz="2800" dirty="0"/>
          </a:p>
        </p:txBody>
      </p:sp>
    </p:spTree>
    <p:extLst>
      <p:ext uri="{BB962C8B-B14F-4D97-AF65-F5344CB8AC3E}">
        <p14:creationId xmlns:p14="http://schemas.microsoft.com/office/powerpoint/2010/main" val="930076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62000-B55F-4B61-D2B8-096376951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AD52A-55B3-7236-8756-CBB1F3463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Three parts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70FA08-CB5F-FB37-644D-D5A3EFD2D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NZ" dirty="0"/>
          </a:p>
          <a:p>
            <a:r>
              <a:rPr lang="en-NZ" sz="2800" dirty="0"/>
              <a:t>(Primarily users and passwords) </a:t>
            </a:r>
          </a:p>
          <a:p>
            <a:r>
              <a:rPr lang="en-NZ" sz="2800" dirty="0"/>
              <a:t>Export B2C users to blob storage</a:t>
            </a:r>
          </a:p>
          <a:p>
            <a:r>
              <a:rPr lang="en-NZ" sz="2800" dirty="0"/>
              <a:t>Import EEID users from blob storage</a:t>
            </a:r>
          </a:p>
          <a:p>
            <a:r>
              <a:rPr lang="en-NZ" sz="2800" dirty="0"/>
              <a:t>JIT password migration</a:t>
            </a:r>
          </a:p>
          <a:p>
            <a:endParaRPr lang="en-NZ" sz="2800" dirty="0"/>
          </a:p>
          <a:p>
            <a:endParaRPr lang="en-NZ" sz="2800" dirty="0"/>
          </a:p>
        </p:txBody>
      </p:sp>
    </p:spTree>
    <p:extLst>
      <p:ext uri="{BB962C8B-B14F-4D97-AF65-F5344CB8AC3E}">
        <p14:creationId xmlns:p14="http://schemas.microsoft.com/office/powerpoint/2010/main" val="3812168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8645C-4B91-C7C1-3392-06EDBB807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5B48F-BAC0-4164-3577-AE4261A40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0"/>
            <a:ext cx="9601200" cy="728047"/>
          </a:xfrm>
        </p:spPr>
        <p:txBody>
          <a:bodyPr>
            <a:normAutofit/>
          </a:bodyPr>
          <a:lstStyle/>
          <a:p>
            <a:r>
              <a:rPr lang="en-US" sz="3600" dirty="0"/>
              <a:t>Scripts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C3A62-DED7-C52D-DDE1-CA88180B2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728047"/>
            <a:ext cx="9601200" cy="536795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NZ" dirty="0"/>
          </a:p>
          <a:p>
            <a:pPr marL="0" indent="0">
              <a:buNone/>
            </a:pPr>
            <a:endParaRPr lang="en-NZ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32AC3D-E37C-6E07-C454-0CD7E1954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893" y="1200082"/>
            <a:ext cx="4698723" cy="48737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3EE81F-4A32-A0E9-00D2-A3A5EF842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3400" y="1200082"/>
            <a:ext cx="4140200" cy="4873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232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9D22E-BBD5-A328-80D9-0D74273B0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8D206-E9BF-DF19-6F16-B12A02145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0"/>
            <a:ext cx="9601200" cy="728047"/>
          </a:xfrm>
        </p:spPr>
        <p:txBody>
          <a:bodyPr>
            <a:normAutofit/>
          </a:bodyPr>
          <a:lstStyle/>
          <a:p>
            <a:r>
              <a:rPr lang="en-US" sz="3600" dirty="0"/>
              <a:t>Appsettings - Export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C49004-ACB2-F0D7-DEED-34CB9CA88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728047"/>
            <a:ext cx="9601200" cy="5367953"/>
          </a:xfrm>
        </p:spPr>
        <p:txBody>
          <a:bodyPr>
            <a:normAutofit fontScale="85000" lnSpcReduction="20000"/>
          </a:bodyPr>
          <a:lstStyle/>
          <a:p>
            <a:endParaRPr lang="en-NZ" dirty="0"/>
          </a:p>
          <a:p>
            <a:pPr marL="0" indent="0">
              <a:buNone/>
            </a:pPr>
            <a:r>
              <a:rPr lang="en-NZ" sz="2800" dirty="0"/>
              <a:t>"Export": </a:t>
            </a:r>
          </a:p>
          <a:p>
            <a:pPr marL="0" indent="0">
              <a:buNone/>
            </a:pPr>
            <a:r>
              <a:rPr lang="en-NZ" sz="2800" dirty="0"/>
              <a:t>{  "SelectFields": "id,</a:t>
            </a:r>
          </a:p>
          <a:p>
            <a:pPr marL="0" indent="0">
              <a:buNone/>
            </a:pPr>
            <a:r>
              <a:rPr lang="en-NZ" sz="2800" dirty="0"/>
              <a:t>userPrincipalName,</a:t>
            </a:r>
          </a:p>
          <a:p>
            <a:pPr marL="0" indent="0">
              <a:buNone/>
            </a:pPr>
            <a:r>
              <a:rPr lang="en-NZ" sz="2800" dirty="0"/>
              <a:t>displayName,</a:t>
            </a:r>
          </a:p>
          <a:p>
            <a:pPr marL="0" indent="0">
              <a:buNone/>
            </a:pPr>
            <a:r>
              <a:rPr lang="en-NZ" sz="2800" dirty="0"/>
              <a:t>givenName,</a:t>
            </a:r>
          </a:p>
          <a:p>
            <a:pPr marL="0" indent="0">
              <a:buNone/>
            </a:pPr>
            <a:r>
              <a:rPr lang="en-NZ" sz="2800" dirty="0"/>
              <a:t>surname,</a:t>
            </a:r>
          </a:p>
          <a:p>
            <a:pPr marL="0" indent="0">
              <a:buNone/>
            </a:pPr>
            <a:r>
              <a:rPr lang="en-NZ" sz="2800" dirty="0"/>
              <a:t>mail,</a:t>
            </a:r>
          </a:p>
          <a:p>
            <a:pPr marL="0" indent="0">
              <a:buNone/>
            </a:pPr>
            <a:r>
              <a:rPr lang="en-NZ" sz="2800" dirty="0"/>
              <a:t>mobilePhone,</a:t>
            </a:r>
          </a:p>
          <a:p>
            <a:pPr marL="0" indent="0">
              <a:buNone/>
            </a:pPr>
            <a:r>
              <a:rPr lang="en-NZ" sz="2800" dirty="0"/>
              <a:t>identities,</a:t>
            </a:r>
          </a:p>
          <a:p>
            <a:pPr marL="0" indent="0">
              <a:buNone/>
            </a:pPr>
            <a:r>
              <a:rPr lang="en-NZ" sz="2800" dirty="0"/>
              <a:t>extension_abc123_CustomerId"}</a:t>
            </a:r>
          </a:p>
        </p:txBody>
      </p:sp>
    </p:spTree>
    <p:extLst>
      <p:ext uri="{BB962C8B-B14F-4D97-AF65-F5344CB8AC3E}">
        <p14:creationId xmlns:p14="http://schemas.microsoft.com/office/powerpoint/2010/main" val="927792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C0A2B-BED9-9F6C-F355-BC3D5A1FF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6B723-55E1-9C9B-181E-3BAE86F8D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0"/>
            <a:ext cx="9601200" cy="728047"/>
          </a:xfrm>
        </p:spPr>
        <p:txBody>
          <a:bodyPr>
            <a:normAutofit/>
          </a:bodyPr>
          <a:lstStyle/>
          <a:p>
            <a:r>
              <a:rPr lang="en-US" sz="3600" dirty="0"/>
              <a:t>Appsettings - Import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F58842-7590-41E1-B339-3C5DA35CC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728047"/>
            <a:ext cx="9601200" cy="536795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NZ" dirty="0"/>
          </a:p>
          <a:p>
            <a:pPr marL="0" indent="0">
              <a:buNone/>
            </a:pPr>
            <a:r>
              <a:rPr lang="en-NZ" dirty="0"/>
              <a:t>"Import": {  </a:t>
            </a:r>
          </a:p>
          <a:p>
            <a:pPr marL="0" indent="0">
              <a:buNone/>
            </a:pPr>
            <a:r>
              <a:rPr lang="en-NZ" dirty="0"/>
              <a:t>"</a:t>
            </a:r>
            <a:r>
              <a:rPr lang="en-NZ" i="1" dirty="0"/>
              <a:t>AttributeMappings</a:t>
            </a:r>
            <a:r>
              <a:rPr lang="en-NZ" dirty="0"/>
              <a:t>": {    </a:t>
            </a:r>
          </a:p>
          <a:p>
            <a:pPr marL="0" indent="0">
              <a:buNone/>
            </a:pPr>
            <a:r>
              <a:rPr lang="en-NZ" dirty="0"/>
              <a:t>"extension_b2c_LegacyId": "extension_extid_CustomerId"  },  </a:t>
            </a:r>
          </a:p>
          <a:p>
            <a:pPr marL="0" indent="0">
              <a:buNone/>
            </a:pPr>
            <a:r>
              <a:rPr lang="en-NZ" dirty="0"/>
              <a:t>"</a:t>
            </a:r>
            <a:r>
              <a:rPr lang="en-NZ" i="1" dirty="0"/>
              <a:t>ExcludeFields</a:t>
            </a:r>
            <a:r>
              <a:rPr lang="en-NZ" dirty="0"/>
              <a:t>": ["createdDateTime"],  </a:t>
            </a:r>
          </a:p>
          <a:p>
            <a:pPr marL="0" indent="0">
              <a:buNone/>
            </a:pPr>
            <a:r>
              <a:rPr lang="en-NZ" dirty="0"/>
              <a:t>"</a:t>
            </a:r>
            <a:r>
              <a:rPr lang="en-NZ" i="1" dirty="0"/>
              <a:t>MigrationAttributes</a:t>
            </a:r>
            <a:r>
              <a:rPr lang="en-NZ" dirty="0"/>
              <a:t>": </a:t>
            </a:r>
          </a:p>
          <a:p>
            <a:pPr marL="0" indent="0">
              <a:buNone/>
            </a:pPr>
            <a:r>
              <a:rPr lang="en-NZ" dirty="0"/>
              <a:t>{    "StoreB2CObjectId": true,    </a:t>
            </a:r>
          </a:p>
          <a:p>
            <a:pPr marL="0" indent="0">
              <a:buNone/>
            </a:pPr>
            <a:r>
              <a:rPr lang="en-NZ" dirty="0"/>
              <a:t>"B2CObjectIdTarget": "extension_xyz_OriginalB2CId",    </a:t>
            </a:r>
          </a:p>
          <a:p>
            <a:pPr marL="0" indent="0">
              <a:buNone/>
            </a:pPr>
            <a:r>
              <a:rPr lang="en-NZ" dirty="0"/>
              <a:t>"SetRequireMigration": true,    </a:t>
            </a:r>
          </a:p>
          <a:p>
            <a:pPr marL="0" indent="0">
              <a:buNone/>
            </a:pPr>
            <a:r>
              <a:rPr lang="en-NZ" dirty="0"/>
              <a:t>"RequireMigrationTarget": "extension_xyz_RequiresMigration"  }}</a:t>
            </a:r>
          </a:p>
          <a:p>
            <a:pPr marL="0" indent="0">
              <a:buNone/>
            </a:pPr>
            <a:endParaRPr lang="en-NZ" sz="2800" dirty="0"/>
          </a:p>
        </p:txBody>
      </p:sp>
    </p:spTree>
    <p:extLst>
      <p:ext uri="{BB962C8B-B14F-4D97-AF65-F5344CB8AC3E}">
        <p14:creationId xmlns:p14="http://schemas.microsoft.com/office/powerpoint/2010/main" val="2124583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8EBBA-2471-70C4-A274-367CF7094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B1D6-2617-9A92-EFE6-71CA739FB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Test / Production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09A98-9416-6981-4966-3534A964D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Z" dirty="0"/>
          </a:p>
          <a:p>
            <a:r>
              <a:rPr lang="en-NZ" sz="2800" dirty="0"/>
              <a:t>Test with Azure function running locally, local keys, Ngrok and Azure blob storage emulator</a:t>
            </a:r>
          </a:p>
          <a:p>
            <a:endParaRPr lang="en-NZ" sz="2800" dirty="0"/>
          </a:p>
          <a:p>
            <a:r>
              <a:rPr lang="en-NZ" sz="2800" dirty="0"/>
              <a:t>Production with Azure function running in the cloud, Azure key vault, and Azure blob storage </a:t>
            </a:r>
          </a:p>
        </p:txBody>
      </p:sp>
    </p:spTree>
    <p:extLst>
      <p:ext uri="{BB962C8B-B14F-4D97-AF65-F5344CB8AC3E}">
        <p14:creationId xmlns:p14="http://schemas.microsoft.com/office/powerpoint/2010/main" val="226256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EB162-143B-94CB-0E4B-D95287F62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B7771-DA3D-39B4-8F71-1BE758031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"/>
            <a:ext cx="9601200" cy="787399"/>
          </a:xfrm>
        </p:spPr>
        <p:txBody>
          <a:bodyPr>
            <a:normAutofit/>
          </a:bodyPr>
          <a:lstStyle/>
          <a:p>
            <a:r>
              <a:rPr lang="en-US" sz="3600" dirty="0"/>
              <a:t>References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AEBBA2-8304-DA3E-0FA0-BF97FFBA3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4300" y="1193802"/>
            <a:ext cx="9601200" cy="4749798"/>
          </a:xfrm>
        </p:spPr>
        <p:txBody>
          <a:bodyPr>
            <a:normAutofit/>
          </a:bodyPr>
          <a:lstStyle/>
          <a:p>
            <a:endParaRPr lang="en-NZ" dirty="0"/>
          </a:p>
          <a:p>
            <a:r>
              <a:rPr lang="en-NZ" sz="2800" dirty="0">
                <a:hlinkClick r:id="rId2"/>
              </a:rPr>
              <a:t>JIT password migration</a:t>
            </a:r>
            <a:endParaRPr lang="en-NZ" sz="2800" dirty="0"/>
          </a:p>
          <a:p>
            <a:r>
              <a:rPr lang="en-NZ" sz="2800" dirty="0">
                <a:hlinkClick r:id="rId3"/>
              </a:rPr>
              <a:t>B2C custom policy to EEID</a:t>
            </a:r>
            <a:endParaRPr lang="en-NZ" sz="2800" dirty="0"/>
          </a:p>
          <a:p>
            <a:r>
              <a:rPr lang="en-NZ" sz="2800" dirty="0">
                <a:hlinkClick r:id="rId4"/>
              </a:rPr>
              <a:t>Migration tool</a:t>
            </a:r>
            <a:endParaRPr lang="en-NZ" sz="2800" dirty="0"/>
          </a:p>
          <a:p>
            <a:r>
              <a:rPr lang="en-NZ" sz="2800" dirty="0">
                <a:hlinkClick r:id="rId5"/>
              </a:rPr>
              <a:t>Azure AD B2C / Entra External ID hybrid policies</a:t>
            </a:r>
            <a:endParaRPr lang="en-NZ" sz="2800" dirty="0"/>
          </a:p>
          <a:p>
            <a:r>
              <a:rPr lang="en-US" sz="2800" dirty="0">
                <a:hlinkClick r:id="rId6"/>
              </a:rPr>
              <a:t>B2C to EEID JIT migration</a:t>
            </a:r>
            <a:endParaRPr lang="en-US" sz="2800" dirty="0"/>
          </a:p>
          <a:p>
            <a:r>
              <a:rPr lang="en-NZ" sz="2800" dirty="0">
                <a:hlinkClick r:id="rId7"/>
              </a:rPr>
              <a:t>Presentations</a:t>
            </a:r>
            <a:endParaRPr lang="en-NZ" sz="2800" dirty="0"/>
          </a:p>
        </p:txBody>
      </p:sp>
    </p:spTree>
    <p:extLst>
      <p:ext uri="{BB962C8B-B14F-4D97-AF65-F5344CB8AC3E}">
        <p14:creationId xmlns:p14="http://schemas.microsoft.com/office/powerpoint/2010/main" val="1749221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amond Grid 16x9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diamond grid presentation (widescreen).potx" id="{B2221865-AD13-4DF0-B68E-BF08E8CC5659}" vid="{BAA0C488-98B6-4F47-8E1C-5C7CD9605F73}"/>
    </a:ext>
  </a:extLst>
</a:theme>
</file>

<file path=ppt/theme/theme2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diamond grid presentation (widescreen)</Template>
  <TotalTime>314</TotalTime>
  <Words>358</Words>
  <Application>Microsoft Office PowerPoint</Application>
  <PresentationFormat>Widescreen</PresentationFormat>
  <Paragraphs>87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Segoe UI</vt:lpstr>
      <vt:lpstr>Diamond Grid 16x9</vt:lpstr>
      <vt:lpstr>Don’t be a know-it-all  Be a learn-it-all </vt:lpstr>
      <vt:lpstr>Azure AD B2C to Entra External ID Migration Kit</vt:lpstr>
      <vt:lpstr>Migrate what?</vt:lpstr>
      <vt:lpstr>Migrate what?</vt:lpstr>
      <vt:lpstr>Migration options</vt:lpstr>
      <vt:lpstr>Custom policy to EEID</vt:lpstr>
      <vt:lpstr>Hybrid approach</vt:lpstr>
      <vt:lpstr>JIT password migration</vt:lpstr>
      <vt:lpstr>Migration tool</vt:lpstr>
      <vt:lpstr>Key Components</vt:lpstr>
      <vt:lpstr>Three parts</vt:lpstr>
      <vt:lpstr>Scripts</vt:lpstr>
      <vt:lpstr>Appsettings - Export</vt:lpstr>
      <vt:lpstr>Appsettings - Import</vt:lpstr>
      <vt:lpstr>Test / Production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Rory Braybrook</dc:creator>
  <cp:lastModifiedBy>Rory Braybrook</cp:lastModifiedBy>
  <cp:revision>19</cp:revision>
  <dcterms:created xsi:type="dcterms:W3CDTF">2026-04-08T02:24:22Z</dcterms:created>
  <dcterms:modified xsi:type="dcterms:W3CDTF">2026-04-15T21:53:09Z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